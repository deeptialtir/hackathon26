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Master" Target="slideMasters/slideMaster1.xml"/>
<Relationship Id="rId1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" name="Text 20"/>
          <p:cNvSpPr txBox="1"/>
          <p:nvPr/>
        </p:nvSpPr>
        <p:spPr>
          <a:xfrm>
            <a:off x="685800" y="91440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3600" b="1">
                <a:solidFill>
                  <a:srgbClr val="43F6C8"/>
                </a:solidFill>
              </a:rPr>
              <a:t>ORBYT Test Matrix Dashboard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31520" y="1737360"/>
            <a:ext cx="88696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000" b="0">
                <a:solidFill>
                  <a:srgbClr val="EEF7FF"/>
                </a:solidFill>
              </a:rPr>
              <a:t>AI-assisted traceability and release coverage intelligence for Chip1 QA</a:t>
            </a:r>
          </a:p>
        </p:txBody>
      </p:sp>
      <p:sp>
        <p:nvSpPr>
          <p:cNvPr id="22" name="Panel 22"/>
          <p:cNvSpPr/>
          <p:nvPr/>
        </p:nvSpPr>
        <p:spPr>
          <a:xfrm>
            <a:off x="731520" y="2834640"/>
            <a:ext cx="10607040" cy="1645920"/>
          </a:xfrm>
          <a:prstGeom prst="roundRect">
            <a:avLst/>
          </a:prstGeom>
          <a:solidFill>
            <a:srgbClr val="091222">
              <a:alpha val="88000"/>
            </a:srgbClr>
          </a:solidFill>
          <a:ln w="12700">
            <a:solidFill>
              <a:srgbClr val="7AA7FF">
                <a:alpha val="50000"/>
              </a:srgbClr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051560" y="315468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200" b="1">
                <a:solidFill>
                  <a:srgbClr val="EEF7FF"/>
                </a:solidFill>
              </a:rPr>
              <a:t>Requirements + release notes + strategy artefacts → matrices, charts, dashboard, and drill-down downloads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777240" y="5989320"/>
            <a:ext cx="10241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000" b="0">
                <a:solidFill>
                  <a:srgbClr val="9DB1C8"/>
                </a:solidFill>
              </a:rPr>
              <a:t>Generated 2026-05-22 16:17 from current workspace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 10"/>
          <p:cNvSpPr txBox="1"/>
          <p:nvPr/>
        </p:nvSpPr>
        <p:spPr>
          <a:xfrm>
            <a:off x="502920" y="320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43F6C8"/>
                </a:solidFill>
              </a:rPr>
              <a:t>Agenda</a:t>
            </a:r>
          </a:p>
        </p:txBody>
      </p:sp>
      <p:sp>
        <p:nvSpPr>
          <p:cNvPr id="30" name="Bullets 30"/>
          <p:cNvSpPr txBox="1"/>
          <p:nvPr/>
        </p:nvSpPr>
        <p:spPr>
          <a:xfrm>
            <a:off x="822960" y="1234440"/>
            <a:ext cx="1024128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2200" b="0">
                <a:solidFill>
                  <a:srgbClr val="EEF7FF"/>
                </a:solidFill>
              </a:rPr>
              <a:t>What ORBYT is and the problem it solves</a:t>
            </a:r>
          </a:p>
          <a:p>
            <a:pPr marL="285750" indent="-171450">
              <a:buChar char="•"/>
            </a:pPr>
            <a:r>
              <a:rPr lang="en-US" sz="2200" b="0">
                <a:solidFill>
                  <a:srgbClr val="EEF7FF"/>
                </a:solidFill>
              </a:rPr>
              <a:t>End-to-end flow from inputs to dashboard</a:t>
            </a:r>
          </a:p>
          <a:p>
            <a:pPr marL="285750" indent="-171450">
              <a:buChar char="•"/>
            </a:pPr>
            <a:r>
              <a:rPr lang="en-US" sz="2200" b="0">
                <a:solidFill>
                  <a:srgbClr val="EEF7FF"/>
                </a:solidFill>
              </a:rPr>
              <a:t>Input artefacts and generated CSV/XLSX outputs</a:t>
            </a:r>
          </a:p>
          <a:p>
            <a:pPr marL="285750" indent="-171450">
              <a:buChar char="•"/>
            </a:pPr>
            <a:r>
              <a:rPr lang="en-US" sz="2200" b="0">
                <a:solidFill>
                  <a:srgbClr val="EEF7FF"/>
                </a:solidFill>
              </a:rPr>
              <a:t>How orbyt_matrix_generator.py builds the matrices</a:t>
            </a:r>
          </a:p>
          <a:p>
            <a:pPr marL="285750" indent="-171450">
              <a:buChar char="•"/>
            </a:pPr>
            <a:r>
              <a:rPr lang="en-US" sz="2200" b="0">
                <a:solidFill>
                  <a:srgbClr val="EEF7FF"/>
                </a:solidFill>
              </a:rPr>
              <a:t>Current coverage signals, benefits, roadmap, and demo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 10"/>
          <p:cNvSpPr txBox="1"/>
          <p:nvPr/>
        </p:nvSpPr>
        <p:spPr>
          <a:xfrm>
            <a:off x="502920" y="320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43F6C8"/>
                </a:solidFill>
              </a:rPr>
              <a:t>What Is ORBYT?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8640" y="7772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200" b="0">
                <a:solidFill>
                  <a:srgbClr val="9DB1C8"/>
                </a:solidFill>
              </a:rPr>
              <a:t>Operational release and backlog yield traceability</a:t>
            </a:r>
          </a:p>
        </p:txBody>
      </p:sp>
      <p:sp>
        <p:nvSpPr>
          <p:cNvPr id="40" name="Panel 40"/>
          <p:cNvSpPr/>
          <p:nvPr/>
        </p:nvSpPr>
        <p:spPr>
          <a:xfrm>
            <a:off x="685800" y="1234440"/>
            <a:ext cx="5349240" cy="4206240"/>
          </a:xfrm>
          <a:prstGeom prst="roundRect">
            <a:avLst/>
          </a:prstGeom>
          <a:solidFill>
            <a:srgbClr val="091222">
              <a:alpha val="88000"/>
            </a:srgbClr>
          </a:solidFill>
          <a:ln w="12700">
            <a:solidFill>
              <a:srgbClr val="43F6C8">
                <a:alpha val="50000"/>
              </a:srgbClr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960120" y="150876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200" b="1">
                <a:solidFill>
                  <a:srgbClr val="43F6C8"/>
                </a:solidFill>
              </a:rPr>
              <a:t>Description</a:t>
            </a:r>
          </a:p>
        </p:txBody>
      </p:sp>
      <p:sp>
        <p:nvSpPr>
          <p:cNvPr id="42" name="Bullets 42"/>
          <p:cNvSpPr txBox="1"/>
          <p:nvPr/>
        </p:nvSpPr>
        <p:spPr>
          <a:xfrm>
            <a:off x="960120" y="2057400"/>
            <a:ext cx="480060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Converts backlog, release notes, and test strategy artefacts into QA decision matrices.</a:t>
            </a:r>
          </a:p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Links CHP requirements, release evidence, deployed artefacts, sitemap areas, and readiness status.</a:t>
            </a:r>
          </a:p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Produces dashboard pages, downloadable workbooks, and drill-down matrix views.</a:t>
            </a:r>
          </a:p>
        </p:txBody>
      </p:sp>
      <p:sp>
        <p:nvSpPr>
          <p:cNvPr id="43" name="Panel 43"/>
          <p:cNvSpPr/>
          <p:nvPr/>
        </p:nvSpPr>
        <p:spPr>
          <a:xfrm>
            <a:off x="6309360" y="1234440"/>
            <a:ext cx="4983480" cy="4206240"/>
          </a:xfrm>
          <a:prstGeom prst="roundRect">
            <a:avLst/>
          </a:prstGeom>
          <a:solidFill>
            <a:srgbClr val="091222">
              <a:alpha val="88000"/>
            </a:srgbClr>
          </a:solidFill>
          <a:ln w="12700">
            <a:solidFill>
              <a:srgbClr val="FF4FD8">
                <a:alpha val="50000"/>
              </a:srgbClr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6583680" y="150876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200" b="1">
                <a:solidFill>
                  <a:srgbClr val="FF4FD8"/>
                </a:solidFill>
              </a:rPr>
              <a:t>Core Outcomes</a:t>
            </a:r>
          </a:p>
        </p:txBody>
      </p:sp>
      <p:sp>
        <p:nvSpPr>
          <p:cNvPr id="45" name="Bullets 45"/>
          <p:cNvSpPr txBox="1"/>
          <p:nvPr/>
        </p:nvSpPr>
        <p:spPr>
          <a:xfrm>
            <a:off x="6583680" y="2057400"/>
            <a:ext cx="448056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Traceability from requirement to release evidence</a:t>
            </a:r>
          </a:p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Feature and sitemap category coverage</a:t>
            </a:r>
          </a:p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Release readiness and Go/No-Go signal</a:t>
            </a:r>
          </a:p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Impact, automation, sync, and strategy 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 10"/>
          <p:cNvSpPr txBox="1"/>
          <p:nvPr/>
        </p:nvSpPr>
        <p:spPr>
          <a:xfrm>
            <a:off x="502920" y="320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43F6C8"/>
                </a:solidFill>
              </a:rPr>
              <a:t>Flow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8640" y="7772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200" b="0">
                <a:solidFill>
                  <a:srgbClr val="9DB1C8"/>
                </a:solidFill>
              </a:rPr>
              <a:t>How evidence moves through ORBYT</a:t>
            </a:r>
          </a:p>
        </p:txBody>
      </p:sp>
      <p:sp>
        <p:nvSpPr>
          <p:cNvPr id="50" name="Panel 50"/>
          <p:cNvSpPr/>
          <p:nvPr/>
        </p:nvSpPr>
        <p:spPr>
          <a:xfrm>
            <a:off x="502920" y="2286000"/>
            <a:ext cx="1508760" cy="914400"/>
          </a:xfrm>
          <a:prstGeom prst="roundRect">
            <a:avLst/>
          </a:prstGeom>
          <a:solidFill>
            <a:srgbClr val="0B1728">
              <a:alpha val="88000"/>
            </a:srgbClr>
          </a:solidFill>
          <a:ln w="12700">
            <a:solidFill>
              <a:srgbClr val="43F6C8">
                <a:alpha val="50000"/>
              </a:srgbClr>
            </a:solidFill>
          </a:ln>
        </p:spPr>
      </p:sp>
      <p:sp>
        <p:nvSpPr>
          <p:cNvPr id="70" name="Text 70"/>
          <p:cNvSpPr txBox="1"/>
          <p:nvPr/>
        </p:nvSpPr>
        <p:spPr>
          <a:xfrm>
            <a:off x="630936" y="2542032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500" b="1">
                <a:solidFill>
                  <a:srgbClr val="EEF7FF"/>
                </a:solidFill>
              </a:rPr>
              <a:t>Input CSVs</a:t>
            </a:r>
          </a:p>
        </p:txBody>
      </p:sp>
      <p:cxnSp>
        <p:nvCxnSpPr>
          <p:cNvPr id="90" name="Line 90"/>
          <p:cNvCxnSpPr/>
          <p:nvPr/>
        </p:nvCxnSpPr>
        <p:spPr>
          <a:xfrm>
            <a:off x="2020824" y="2743200"/>
            <a:ext cx="493776" cy="9144"/>
          </a:xfrm>
          <a:prstGeom prst="line">
            <a:avLst/>
          </a:prstGeom>
          <a:ln w="25400">
            <a:solidFill>
              <a:srgbClr val="43F6C8"/>
            </a:solidFill>
            <a:tailEnd type="triangle"/>
          </a:ln>
        </p:spPr>
      </p:cxnSp>
      <p:sp>
        <p:nvSpPr>
          <p:cNvPr id="51" name="Panel 51"/>
          <p:cNvSpPr/>
          <p:nvPr/>
        </p:nvSpPr>
        <p:spPr>
          <a:xfrm>
            <a:off x="2560320" y="2286000"/>
            <a:ext cx="1508760" cy="914400"/>
          </a:xfrm>
          <a:prstGeom prst="roundRect">
            <a:avLst/>
          </a:prstGeom>
          <a:solidFill>
            <a:srgbClr val="0B1728">
              <a:alpha val="88000"/>
            </a:srgbClr>
          </a:solidFill>
          <a:ln w="12700">
            <a:solidFill>
              <a:srgbClr val="7AA7FF">
                <a:alpha val="50000"/>
              </a:srgbClr>
            </a:solidFill>
          </a:ln>
        </p:spPr>
      </p:sp>
      <p:sp>
        <p:nvSpPr>
          <p:cNvPr id="71" name="Text 71"/>
          <p:cNvSpPr txBox="1"/>
          <p:nvPr/>
        </p:nvSpPr>
        <p:spPr>
          <a:xfrm>
            <a:off x="2688336" y="2542032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500" b="1">
                <a:solidFill>
                  <a:srgbClr val="EEF7FF"/>
                </a:solidFill>
              </a:rPr>
              <a:t>Release Notes</a:t>
            </a:r>
          </a:p>
        </p:txBody>
      </p:sp>
      <p:cxnSp>
        <p:nvCxnSpPr>
          <p:cNvPr id="91" name="Line 91"/>
          <p:cNvCxnSpPr/>
          <p:nvPr/>
        </p:nvCxnSpPr>
        <p:spPr>
          <a:xfrm>
            <a:off x="4078224" y="2743200"/>
            <a:ext cx="493776" cy="9144"/>
          </a:xfrm>
          <a:prstGeom prst="line">
            <a:avLst/>
          </a:prstGeom>
          <a:ln w="25400">
            <a:solidFill>
              <a:srgbClr val="43F6C8"/>
            </a:solidFill>
            <a:tailEnd type="triangle"/>
          </a:ln>
        </p:spPr>
      </p:cxnSp>
      <p:sp>
        <p:nvSpPr>
          <p:cNvPr id="52" name="Panel 52"/>
          <p:cNvSpPr/>
          <p:nvPr/>
        </p:nvSpPr>
        <p:spPr>
          <a:xfrm>
            <a:off x="4617720" y="2286000"/>
            <a:ext cx="1508760" cy="914400"/>
          </a:xfrm>
          <a:prstGeom prst="roundRect">
            <a:avLst/>
          </a:prstGeom>
          <a:solidFill>
            <a:srgbClr val="0B1728">
              <a:alpha val="88000"/>
            </a:srgbClr>
          </a:solidFill>
          <a:ln w="12700">
            <a:solidFill>
              <a:srgbClr val="43F6C8">
                <a:alpha val="50000"/>
              </a:srgbClr>
            </a:solidFill>
          </a:ln>
        </p:spPr>
      </p:sp>
      <p:sp>
        <p:nvSpPr>
          <p:cNvPr id="72" name="Text 72"/>
          <p:cNvSpPr txBox="1"/>
          <p:nvPr/>
        </p:nvSpPr>
        <p:spPr>
          <a:xfrm>
            <a:off x="4745736" y="2542032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500" b="1">
                <a:solidFill>
                  <a:srgbClr val="EEF7FF"/>
                </a:solidFill>
              </a:rPr>
              <a:t>Parser</a:t>
            </a:r>
          </a:p>
        </p:txBody>
      </p:sp>
      <p:cxnSp>
        <p:nvCxnSpPr>
          <p:cNvPr id="92" name="Line 92"/>
          <p:cNvCxnSpPr/>
          <p:nvPr/>
        </p:nvCxnSpPr>
        <p:spPr>
          <a:xfrm>
            <a:off x="6135624" y="2743200"/>
            <a:ext cx="493776" cy="9144"/>
          </a:xfrm>
          <a:prstGeom prst="line">
            <a:avLst/>
          </a:prstGeom>
          <a:ln w="25400">
            <a:solidFill>
              <a:srgbClr val="43F6C8"/>
            </a:solidFill>
            <a:tailEnd type="triangle"/>
          </a:ln>
        </p:spPr>
      </p:cxnSp>
      <p:sp>
        <p:nvSpPr>
          <p:cNvPr id="53" name="Panel 53"/>
          <p:cNvSpPr/>
          <p:nvPr/>
        </p:nvSpPr>
        <p:spPr>
          <a:xfrm>
            <a:off x="6675120" y="2286000"/>
            <a:ext cx="1508760" cy="914400"/>
          </a:xfrm>
          <a:prstGeom prst="roundRect">
            <a:avLst/>
          </a:prstGeom>
          <a:solidFill>
            <a:srgbClr val="0B1728">
              <a:alpha val="88000"/>
            </a:srgbClr>
          </a:solidFill>
          <a:ln w="12700">
            <a:solidFill>
              <a:srgbClr val="7AA7FF">
                <a:alpha val="50000"/>
              </a:srgbClr>
            </a:solidFill>
          </a:ln>
        </p:spPr>
      </p:sp>
      <p:sp>
        <p:nvSpPr>
          <p:cNvPr id="73" name="Text 73"/>
          <p:cNvSpPr txBox="1"/>
          <p:nvPr/>
        </p:nvSpPr>
        <p:spPr>
          <a:xfrm>
            <a:off x="6803136" y="2542032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500" b="1">
                <a:solidFill>
                  <a:srgbClr val="EEF7FF"/>
                </a:solidFill>
              </a:rPr>
              <a:t>Matrix Generator</a:t>
            </a:r>
          </a:p>
        </p:txBody>
      </p:sp>
      <p:cxnSp>
        <p:nvCxnSpPr>
          <p:cNvPr id="93" name="Line 93"/>
          <p:cNvCxnSpPr/>
          <p:nvPr/>
        </p:nvCxnSpPr>
        <p:spPr>
          <a:xfrm>
            <a:off x="8193023" y="2743200"/>
            <a:ext cx="859535" cy="9144"/>
          </a:xfrm>
          <a:prstGeom prst="line">
            <a:avLst/>
          </a:prstGeom>
          <a:ln w="25400">
            <a:solidFill>
              <a:srgbClr val="43F6C8"/>
            </a:solidFill>
            <a:tailEnd type="triangle"/>
          </a:ln>
        </p:spPr>
      </p:cxnSp>
      <p:sp>
        <p:nvSpPr>
          <p:cNvPr id="54" name="Panel 54"/>
          <p:cNvSpPr/>
          <p:nvPr/>
        </p:nvSpPr>
        <p:spPr>
          <a:xfrm>
            <a:off x="9098280" y="2286000"/>
            <a:ext cx="1508760" cy="914400"/>
          </a:xfrm>
          <a:prstGeom prst="roundRect">
            <a:avLst/>
          </a:prstGeom>
          <a:solidFill>
            <a:srgbClr val="0B1728">
              <a:alpha val="88000"/>
            </a:srgbClr>
          </a:solidFill>
          <a:ln w="12700">
            <a:solidFill>
              <a:srgbClr val="43F6C8">
                <a:alpha val="50000"/>
              </a:srgbClr>
            </a:solidFill>
          </a:ln>
        </p:spPr>
      </p:sp>
      <p:sp>
        <p:nvSpPr>
          <p:cNvPr id="74" name="Text 74"/>
          <p:cNvSpPr txBox="1"/>
          <p:nvPr/>
        </p:nvSpPr>
        <p:spPr>
          <a:xfrm>
            <a:off x="9226296" y="2542032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500" b="1">
                <a:solidFill>
                  <a:srgbClr val="EEF7FF"/>
                </a:solidFill>
              </a:rPr>
              <a:t>Dashboard + PPT</a:t>
            </a:r>
          </a:p>
        </p:txBody>
      </p:sp>
      <p:sp>
        <p:nvSpPr>
          <p:cNvPr id="95" name="Bullets 95"/>
          <p:cNvSpPr txBox="1"/>
          <p:nvPr/>
        </p:nvSpPr>
        <p:spPr>
          <a:xfrm>
            <a:off x="914400" y="38862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600" b="0">
                <a:solidFill>
                  <a:srgbClr val="EEF7FF"/>
                </a:solidFill>
              </a:rPr>
              <a:t>Release note metadata supplies status, environment, date, artefacts, and deployed item evidence.</a:t>
            </a:r>
          </a:p>
          <a:p>
            <a:pPr marL="285750" indent="-171450">
              <a:buChar char="•"/>
            </a:pPr>
            <a:r>
              <a:rPr lang="en-US" sz="1600" b="0">
                <a:solidFill>
                  <a:srgbClr val="EEF7FF"/>
                </a:solidFill>
              </a:rPr>
              <a:t>Backlog fields drive requirement, feature, component, priority, and sitemap classification.</a:t>
            </a:r>
          </a:p>
          <a:p>
            <a:pPr marL="285750" indent="-171450">
              <a:buChar char="•"/>
            </a:pPr>
            <a:r>
              <a:rPr lang="en-US" sz="1600" b="0">
                <a:solidFill>
                  <a:srgbClr val="EEF7FF"/>
                </a:solidFill>
              </a:rPr>
              <a:t>Outputs are regenerated as CSV, Excel, dashboard HTML, drill-down pages, and this presentation.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 10"/>
          <p:cNvSpPr txBox="1"/>
          <p:nvPr/>
        </p:nvSpPr>
        <p:spPr>
          <a:xfrm>
            <a:off x="502920" y="320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43F6C8"/>
                </a:solidFill>
              </a:rPr>
              <a:t>Inputs</a:t>
            </a:r>
          </a:p>
        </p:txBody>
      </p:sp>
      <p:sp>
        <p:nvSpPr>
          <p:cNvPr id="100" name="Panel 100"/>
          <p:cNvSpPr/>
          <p:nvPr/>
        </p:nvSpPr>
        <p:spPr>
          <a:xfrm>
            <a:off x="685800" y="1143000"/>
            <a:ext cx="3474720" cy="4343400"/>
          </a:xfrm>
          <a:prstGeom prst="roundRect">
            <a:avLst/>
          </a:prstGeom>
          <a:solidFill>
            <a:srgbClr val="091222">
              <a:alpha val="88000"/>
            </a:srgbClr>
          </a:solidFill>
          <a:ln w="12700">
            <a:solidFill>
              <a:srgbClr val="43F6C8">
                <a:alpha val="50000"/>
              </a:srgbClr>
            </a:solidFill>
          </a:ln>
        </p:spPr>
      </p:sp>
      <p:sp>
        <p:nvSpPr>
          <p:cNvPr id="101" name="Text 101"/>
          <p:cNvSpPr txBox="1"/>
          <p:nvPr/>
        </p:nvSpPr>
        <p:spPr>
          <a:xfrm>
            <a:off x="914400" y="14173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900" b="1">
                <a:solidFill>
                  <a:srgbClr val="43F6C8"/>
                </a:solidFill>
              </a:rPr>
              <a:t>Requirement Inputs</a:t>
            </a:r>
          </a:p>
        </p:txBody>
      </p:sp>
      <p:sp>
        <p:nvSpPr>
          <p:cNvPr id="102" name="Bullets 102"/>
          <p:cNvSpPr txBox="1"/>
          <p:nvPr/>
        </p:nvSpPr>
        <p:spPr>
          <a:xfrm>
            <a:off x="914400" y="1920240"/>
            <a:ext cx="292608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Feature backlog CSV</a:t>
            </a:r>
          </a:p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Story backlog CSV</a:t>
            </a:r>
          </a:p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CHP IDs, names, content, tags, component, priority</a:t>
            </a:r>
          </a:p>
        </p:txBody>
      </p:sp>
      <p:sp>
        <p:nvSpPr>
          <p:cNvPr id="103" name="Panel 103"/>
          <p:cNvSpPr/>
          <p:nvPr/>
        </p:nvSpPr>
        <p:spPr>
          <a:xfrm>
            <a:off x="4389120" y="1143000"/>
            <a:ext cx="3474720" cy="4343400"/>
          </a:xfrm>
          <a:prstGeom prst="roundRect">
            <a:avLst/>
          </a:prstGeom>
          <a:solidFill>
            <a:srgbClr val="091222">
              <a:alpha val="88000"/>
            </a:srgbClr>
          </a:solidFill>
          <a:ln w="12700">
            <a:solidFill>
              <a:srgbClr val="7AA7FF">
                <a:alpha val="50000"/>
              </a:srgbClr>
            </a:solidFill>
          </a:ln>
        </p:spPr>
      </p:sp>
      <p:sp>
        <p:nvSpPr>
          <p:cNvPr id="104" name="Text 104"/>
          <p:cNvSpPr txBox="1"/>
          <p:nvPr/>
        </p:nvSpPr>
        <p:spPr>
          <a:xfrm>
            <a:off x="4617720" y="14173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900" b="1">
                <a:solidFill>
                  <a:srgbClr val="7AA7FF"/>
                </a:solidFill>
              </a:rPr>
              <a:t>Release Inputs</a:t>
            </a:r>
          </a:p>
        </p:txBody>
      </p:sp>
      <p:sp>
        <p:nvSpPr>
          <p:cNvPr id="105" name="Bullets 105"/>
          <p:cNvSpPr txBox="1"/>
          <p:nvPr/>
        </p:nvSpPr>
        <p:spPr>
          <a:xfrm>
            <a:off x="4617720" y="1920240"/>
            <a:ext cx="292608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Release note CSVs</a:t>
            </a:r>
          </a:p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Release note text fallback</a:t>
            </a:r>
          </a:p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Status, environment, artefacts, deployed item descriptions</a:t>
            </a:r>
          </a:p>
        </p:txBody>
      </p:sp>
      <p:sp>
        <p:nvSpPr>
          <p:cNvPr id="106" name="Panel 106"/>
          <p:cNvSpPr/>
          <p:nvPr/>
        </p:nvSpPr>
        <p:spPr>
          <a:xfrm>
            <a:off x="8092440" y="1143000"/>
            <a:ext cx="3474720" cy="4343400"/>
          </a:xfrm>
          <a:prstGeom prst="roundRect">
            <a:avLst/>
          </a:prstGeom>
          <a:solidFill>
            <a:srgbClr val="091222">
              <a:alpha val="88000"/>
            </a:srgbClr>
          </a:solidFill>
          <a:ln w="12700">
            <a:solidFill>
              <a:srgbClr val="FF4FD8">
                <a:alpha val="50000"/>
              </a:srgbClr>
            </a:solidFill>
          </a:ln>
        </p:spPr>
      </p:sp>
      <p:sp>
        <p:nvSpPr>
          <p:cNvPr id="107" name="Text 107"/>
          <p:cNvSpPr txBox="1"/>
          <p:nvPr/>
        </p:nvSpPr>
        <p:spPr>
          <a:xfrm>
            <a:off x="8321040" y="14173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900" b="1">
                <a:solidFill>
                  <a:srgbClr val="FF4FD8"/>
                </a:solidFill>
              </a:rPr>
              <a:t>Strategy Inputs</a:t>
            </a:r>
          </a:p>
        </p:txBody>
      </p:sp>
      <p:sp>
        <p:nvSpPr>
          <p:cNvPr id="108" name="Bullets 108"/>
          <p:cNvSpPr txBox="1"/>
          <p:nvPr/>
        </p:nvSpPr>
        <p:spPr>
          <a:xfrm>
            <a:off x="8321040" y="1920240"/>
            <a:ext cx="292608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Data integration testing strategy</a:t>
            </a:r>
          </a:p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Architecture coverage CSV</a:t>
            </a:r>
          </a:p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Scenario, component, priority, automatable fields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 10"/>
          <p:cNvSpPr txBox="1"/>
          <p:nvPr/>
        </p:nvSpPr>
        <p:spPr>
          <a:xfrm>
            <a:off x="502920" y="320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43F6C8"/>
                </a:solidFill>
              </a:rPr>
              <a:t>Test Coverage CSV Details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8640" y="7772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200" b="0">
                <a:solidFill>
                  <a:srgbClr val="9DB1C8"/>
                </a:solidFill>
              </a:rPr>
              <a:t>Key generated matrices and current signal</a:t>
            </a:r>
          </a:p>
        </p:txBody>
      </p:sp>
      <p:sp>
        <p:nvSpPr>
          <p:cNvPr id="120" name="Panel 120"/>
          <p:cNvSpPr/>
          <p:nvPr/>
        </p:nvSpPr>
        <p:spPr>
          <a:xfrm>
            <a:off x="685800" y="1188720"/>
            <a:ext cx="2057400" cy="960120"/>
          </a:xfrm>
          <a:prstGeom prst="roundRect">
            <a:avLst/>
          </a:prstGeom>
          <a:solidFill>
            <a:srgbClr val="0B1728">
              <a:alpha val="88000"/>
            </a:srgbClr>
          </a:solidFill>
          <a:ln w="12700">
            <a:solidFill>
              <a:srgbClr val="43F6C8">
                <a:alpha val="50000"/>
              </a:srgbClr>
            </a:solidFill>
          </a:ln>
        </p:spPr>
      </p:sp>
      <p:sp>
        <p:nvSpPr>
          <p:cNvPr id="220" name="Text 220"/>
          <p:cNvSpPr txBox="1"/>
          <p:nvPr/>
        </p:nvSpPr>
        <p:spPr>
          <a:xfrm>
            <a:off x="850392" y="132588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800" b="1">
                <a:solidFill>
                  <a:srgbClr val="9DB1C8"/>
                </a:solidFill>
              </a:rPr>
              <a:t>REQUIREMENTS</a:t>
            </a:r>
          </a:p>
        </p:txBody>
      </p:sp>
      <p:sp>
        <p:nvSpPr>
          <p:cNvPr id="320" name="Text 320"/>
          <p:cNvSpPr txBox="1"/>
          <p:nvPr/>
        </p:nvSpPr>
        <p:spPr>
          <a:xfrm>
            <a:off x="850392" y="157276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400" b="1">
                <a:solidFill>
                  <a:srgbClr val="43F6C8"/>
                </a:solidFill>
              </a:rPr>
              <a:t>1689</a:t>
            </a:r>
          </a:p>
        </p:txBody>
      </p:sp>
      <p:sp>
        <p:nvSpPr>
          <p:cNvPr id="121" name="Panel 121"/>
          <p:cNvSpPr/>
          <p:nvPr/>
        </p:nvSpPr>
        <p:spPr>
          <a:xfrm>
            <a:off x="2926080" y="1188720"/>
            <a:ext cx="2057400" cy="960120"/>
          </a:xfrm>
          <a:prstGeom prst="roundRect">
            <a:avLst/>
          </a:prstGeom>
          <a:solidFill>
            <a:srgbClr val="0B1728">
              <a:alpha val="88000"/>
            </a:srgbClr>
          </a:solidFill>
          <a:ln w="12700">
            <a:solidFill>
              <a:srgbClr val="43F6C8">
                <a:alpha val="50000"/>
              </a:srgbClr>
            </a:solidFill>
          </a:ln>
        </p:spPr>
      </p:sp>
      <p:sp>
        <p:nvSpPr>
          <p:cNvPr id="221" name="Text 221"/>
          <p:cNvSpPr txBox="1"/>
          <p:nvPr/>
        </p:nvSpPr>
        <p:spPr>
          <a:xfrm>
            <a:off x="3090672" y="132588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800" b="1">
                <a:solidFill>
                  <a:srgbClr val="9DB1C8"/>
                </a:solidFill>
              </a:rPr>
              <a:t>TESTED / DEPLOYED</a:t>
            </a:r>
          </a:p>
        </p:txBody>
      </p:sp>
      <p:sp>
        <p:nvSpPr>
          <p:cNvPr id="321" name="Text 321"/>
          <p:cNvSpPr txBox="1"/>
          <p:nvPr/>
        </p:nvSpPr>
        <p:spPr>
          <a:xfrm>
            <a:off x="3090672" y="157276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400" b="1">
                <a:solidFill>
                  <a:srgbClr val="43F6C8"/>
                </a:solidFill>
              </a:rPr>
              <a:t>831</a:t>
            </a:r>
          </a:p>
        </p:txBody>
      </p:sp>
      <p:sp>
        <p:nvSpPr>
          <p:cNvPr id="122" name="Panel 122"/>
          <p:cNvSpPr/>
          <p:nvPr/>
        </p:nvSpPr>
        <p:spPr>
          <a:xfrm>
            <a:off x="5166360" y="1188720"/>
            <a:ext cx="2057400" cy="960120"/>
          </a:xfrm>
          <a:prstGeom prst="roundRect">
            <a:avLst/>
          </a:prstGeom>
          <a:solidFill>
            <a:srgbClr val="0B1728">
              <a:alpha val="88000"/>
            </a:srgbClr>
          </a:solidFill>
          <a:ln w="12700">
            <a:solidFill>
              <a:srgbClr val="43F6C8">
                <a:alpha val="50000"/>
              </a:srgbClr>
            </a:solidFill>
          </a:ln>
        </p:spPr>
      </p:sp>
      <p:sp>
        <p:nvSpPr>
          <p:cNvPr id="222" name="Text 222"/>
          <p:cNvSpPr txBox="1"/>
          <p:nvPr/>
        </p:nvSpPr>
        <p:spPr>
          <a:xfrm>
            <a:off x="5330952" y="132588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800" b="1">
                <a:solidFill>
                  <a:srgbClr val="9DB1C8"/>
                </a:solidFill>
              </a:rPr>
              <a:t>VERIFIED</a:t>
            </a:r>
          </a:p>
        </p:txBody>
      </p:sp>
      <p:sp>
        <p:nvSpPr>
          <p:cNvPr id="322" name="Text 322"/>
          <p:cNvSpPr txBox="1"/>
          <p:nvPr/>
        </p:nvSpPr>
        <p:spPr>
          <a:xfrm>
            <a:off x="5330952" y="157276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400" b="1">
                <a:solidFill>
                  <a:srgbClr val="43F6C8"/>
                </a:solidFill>
              </a:rPr>
              <a:t>706</a:t>
            </a:r>
          </a:p>
        </p:txBody>
      </p:sp>
      <p:sp>
        <p:nvSpPr>
          <p:cNvPr id="123" name="Panel 123"/>
          <p:cNvSpPr/>
          <p:nvPr/>
        </p:nvSpPr>
        <p:spPr>
          <a:xfrm>
            <a:off x="7406640" y="1188720"/>
            <a:ext cx="2057400" cy="960120"/>
          </a:xfrm>
          <a:prstGeom prst="roundRect">
            <a:avLst/>
          </a:prstGeom>
          <a:solidFill>
            <a:srgbClr val="0B1728">
              <a:alpha val="88000"/>
            </a:srgbClr>
          </a:solidFill>
          <a:ln w="12700">
            <a:solidFill>
              <a:srgbClr val="43F6C8">
                <a:alpha val="50000"/>
              </a:srgbClr>
            </a:solidFill>
          </a:ln>
        </p:spPr>
      </p:sp>
      <p:sp>
        <p:nvSpPr>
          <p:cNvPr id="223" name="Text 223"/>
          <p:cNvSpPr txBox="1"/>
          <p:nvPr/>
        </p:nvSpPr>
        <p:spPr>
          <a:xfrm>
            <a:off x="7571231" y="132588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800" b="1">
                <a:solidFill>
                  <a:srgbClr val="9DB1C8"/>
                </a:solidFill>
              </a:rPr>
              <a:t>FEATURE COVERAGE</a:t>
            </a:r>
          </a:p>
        </p:txBody>
      </p:sp>
      <p:sp>
        <p:nvSpPr>
          <p:cNvPr id="323" name="Text 323"/>
          <p:cNvSpPr txBox="1"/>
          <p:nvPr/>
        </p:nvSpPr>
        <p:spPr>
          <a:xfrm>
            <a:off x="7571231" y="157276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400" b="1">
                <a:solidFill>
                  <a:srgbClr val="43F6C8"/>
                </a:solidFill>
              </a:rPr>
              <a:t>92.1%</a:t>
            </a:r>
          </a:p>
        </p:txBody>
      </p:sp>
      <p:sp>
        <p:nvSpPr>
          <p:cNvPr id="124" name="Panel 124"/>
          <p:cNvSpPr/>
          <p:nvPr/>
        </p:nvSpPr>
        <p:spPr>
          <a:xfrm>
            <a:off x="9646920" y="1188720"/>
            <a:ext cx="2057400" cy="960120"/>
          </a:xfrm>
          <a:prstGeom prst="roundRect">
            <a:avLst/>
          </a:prstGeom>
          <a:solidFill>
            <a:srgbClr val="0B1728">
              <a:alpha val="88000"/>
            </a:srgbClr>
          </a:solidFill>
          <a:ln w="12700">
            <a:solidFill>
              <a:srgbClr val="43F6C8">
                <a:alpha val="50000"/>
              </a:srgbClr>
            </a:solidFill>
          </a:ln>
        </p:spPr>
      </p:sp>
      <p:sp>
        <p:nvSpPr>
          <p:cNvPr id="224" name="Text 224"/>
          <p:cNvSpPr txBox="1"/>
          <p:nvPr/>
        </p:nvSpPr>
        <p:spPr>
          <a:xfrm>
            <a:off x="9811512" y="132588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800" b="1">
                <a:solidFill>
                  <a:srgbClr val="9DB1C8"/>
                </a:solidFill>
              </a:rPr>
              <a:t>READINESS AVG</a:t>
            </a:r>
          </a:p>
        </p:txBody>
      </p:sp>
      <p:sp>
        <p:nvSpPr>
          <p:cNvPr id="324" name="Text 324"/>
          <p:cNvSpPr txBox="1"/>
          <p:nvPr/>
        </p:nvSpPr>
        <p:spPr>
          <a:xfrm>
            <a:off x="9811512" y="157276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400" b="1">
                <a:solidFill>
                  <a:srgbClr val="43F6C8"/>
                </a:solidFill>
              </a:rPr>
              <a:t>84.1</a:t>
            </a:r>
          </a:p>
        </p:txBody>
      </p:sp>
      <p:sp>
        <p:nvSpPr>
          <p:cNvPr id="125" name="Bullets 125"/>
          <p:cNvSpPr txBox="1"/>
          <p:nvPr/>
        </p:nvSpPr>
        <p:spPr>
          <a:xfrm>
            <a:off x="868680" y="2514600"/>
            <a:ext cx="10424160" cy="2011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01 Requirement Testing Traceability: item-level release evidence, status, and gaps</a:t>
            </a:r>
          </a:p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01b Feature-Level Traceability: sitemap coverage and child-story rollup</a:t>
            </a:r>
          </a:p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10 Sitemap Category Coverage: coverage status, evidence count, bugs, and mapped features</a:t>
            </a:r>
          </a:p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11 Last 10 Releases: release status, deployed CHP count, touched features, categories</a:t>
            </a:r>
          </a:p>
          <a:p>
            <a:pPr marL="285750" indent="-171450">
              <a:buChar char="•"/>
            </a:pPr>
            <a:r>
              <a:rPr lang="en-US" sz="1500" b="0">
                <a:solidFill>
                  <a:srgbClr val="EEF7FF"/>
                </a:solidFill>
              </a:rPr>
              <a:t>05 Release Readiness: score, Go/No-Go, and open gaps by release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868680" y="47548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200" b="0">
                <a:solidFill>
                  <a:srgbClr val="9DB1C8"/>
                </a:solidFill>
              </a:rPr>
              <a:t>Top category coverage examples: General: 100.0% (COVERED) | Sales › RFQs: 100.0% (COVERED) | Purchasing: 100.0% (COVERED) | Accounts: 100.0% (COVERED)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 10"/>
          <p:cNvSpPr txBox="1"/>
          <p:nvPr/>
        </p:nvSpPr>
        <p:spPr>
          <a:xfrm>
            <a:off x="502920" y="320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43F6C8"/>
                </a:solidFill>
              </a:rPr>
              <a:t>What orbyt_matrix_generator.py Does</a:t>
            </a:r>
          </a:p>
        </p:txBody>
      </p:sp>
      <p:sp>
        <p:nvSpPr>
          <p:cNvPr id="130" name="Bullets 130"/>
          <p:cNvSpPr txBox="1"/>
          <p:nvPr/>
        </p:nvSpPr>
        <p:spPr>
          <a:xfrm>
            <a:off x="731520" y="118872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800" b="0">
                <a:solidFill>
                  <a:srgbClr val="EEF7FF"/>
                </a:solidFill>
              </a:rPr>
              <a:t>Loads backlog CSVs and normalizes CHP requirement IDs.</a:t>
            </a:r>
          </a:p>
          <a:p>
            <a:pPr marL="285750" indent="-171450">
              <a:buChar char="•"/>
            </a:pPr>
            <a:r>
              <a:rPr lang="en-US" sz="1800" b="0">
                <a:solidFill>
                  <a:srgbClr val="EEF7FF"/>
                </a:solidFill>
              </a:rPr>
              <a:t>Parses release note CSVs, with text fallback for release Status.</a:t>
            </a:r>
          </a:p>
          <a:p>
            <a:pPr marL="285750" indent="-171450">
              <a:buChar char="•"/>
            </a:pPr>
            <a:r>
              <a:rPr lang="en-US" sz="1800" b="0">
                <a:solidFill>
                  <a:srgbClr val="EEF7FF"/>
                </a:solidFill>
              </a:rPr>
              <a:t>Classifies requirements and deployed items into sitemap/API/UI categories.</a:t>
            </a:r>
          </a:p>
          <a:p>
            <a:pPr marL="285750" indent="-171450">
              <a:buChar char="•"/>
            </a:pPr>
            <a:r>
              <a:rPr lang="en-US" sz="1800" b="0">
                <a:solidFill>
                  <a:srgbClr val="EEF7FF"/>
                </a:solidFill>
              </a:rPr>
              <a:t>Builds traceability, feature, category, impact, AI validation, automation, readiness, sync, strategy, and architecture matrices.</a:t>
            </a:r>
          </a:p>
          <a:p>
            <a:pPr marL="285750" indent="-171450">
              <a:buChar char="•"/>
            </a:pPr>
            <a:r>
              <a:rPr lang="en-US" sz="1800" b="0">
                <a:solidFill>
                  <a:srgbClr val="EEF7FF"/>
                </a:solidFill>
              </a:rPr>
              <a:t>Writes CSV, per-matrix Excel, complete workbook, dashboard HTML, download hub, and detail pages.</a:t>
            </a:r>
          </a:p>
          <a:p>
            <a:pPr marL="285750" indent="-171450">
              <a:buChar char="•"/>
            </a:pPr>
            <a:r>
              <a:rPr lang="en-US" sz="1800" b="0">
                <a:solidFill>
                  <a:srgbClr val="EEF7FF"/>
                </a:solidFill>
              </a:rPr>
              <a:t>Adds dashboard charts and summarized last-release feature bullets.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 10"/>
          <p:cNvSpPr txBox="1"/>
          <p:nvPr/>
        </p:nvSpPr>
        <p:spPr>
          <a:xfrm>
            <a:off x="502920" y="320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43F6C8"/>
                </a:solidFill>
              </a:rPr>
              <a:t>Pros</a:t>
            </a:r>
          </a:p>
        </p:txBody>
      </p:sp>
      <p:sp>
        <p:nvSpPr>
          <p:cNvPr id="140" name="Panel 140"/>
          <p:cNvSpPr/>
          <p:nvPr/>
        </p:nvSpPr>
        <p:spPr>
          <a:xfrm>
            <a:off x="685800" y="1234440"/>
            <a:ext cx="5303520" cy="4251960"/>
          </a:xfrm>
          <a:prstGeom prst="roundRect">
            <a:avLst/>
          </a:prstGeom>
          <a:solidFill>
            <a:srgbClr val="091222">
              <a:alpha val="88000"/>
            </a:srgbClr>
          </a:solidFill>
          <a:ln w="12700">
            <a:solidFill>
              <a:srgbClr val="43F6C8">
                <a:alpha val="50000"/>
              </a:srgbClr>
            </a:solidFill>
          </a:ln>
        </p:spPr>
      </p:sp>
      <p:sp>
        <p:nvSpPr>
          <p:cNvPr id="141" name="Bullets 141"/>
          <p:cNvSpPr txBox="1"/>
          <p:nvPr/>
        </p:nvSpPr>
        <p:spPr>
          <a:xfrm>
            <a:off x="914400" y="1600200"/>
            <a:ext cx="475488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Single command regenerates all artefacts.</a:t>
            </a:r>
          </a:p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Combines requirement, release, sitemap, and strategy evidence.</a:t>
            </a:r>
          </a:p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Provides both executive dashboard and detailed matrix views.</a:t>
            </a:r>
          </a:p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Exports are Excel/CSV friendly for QA, product, and release teams.</a:t>
            </a:r>
          </a:p>
        </p:txBody>
      </p:sp>
      <p:sp>
        <p:nvSpPr>
          <p:cNvPr id="142" name="Panel 142"/>
          <p:cNvSpPr/>
          <p:nvPr/>
        </p:nvSpPr>
        <p:spPr>
          <a:xfrm>
            <a:off x="6263640" y="1234440"/>
            <a:ext cx="5303520" cy="4251960"/>
          </a:xfrm>
          <a:prstGeom prst="roundRect">
            <a:avLst/>
          </a:prstGeom>
          <a:solidFill>
            <a:srgbClr val="091222">
              <a:alpha val="88000"/>
            </a:srgbClr>
          </a:solidFill>
          <a:ln w="12700">
            <a:solidFill>
              <a:srgbClr val="7AA7FF">
                <a:alpha val="50000"/>
              </a:srgbClr>
            </a:solidFill>
          </a:ln>
        </p:spPr>
      </p:sp>
      <p:sp>
        <p:nvSpPr>
          <p:cNvPr id="143" name="Bullets 143"/>
          <p:cNvSpPr txBox="1"/>
          <p:nvPr/>
        </p:nvSpPr>
        <p:spPr>
          <a:xfrm>
            <a:off x="6492240" y="1600200"/>
            <a:ext cx="475488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Highlights gaps, readiness, cross-platform drift, and impact risk.</a:t>
            </a:r>
          </a:p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Uses release artefacts to improve category coverage confidence.</a:t>
            </a:r>
          </a:p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Makes the latest releases easier to scan with summarized bullets.</a:t>
            </a:r>
          </a:p>
          <a:p>
            <a:pPr marL="285750" indent="-171450">
              <a:buChar char="•"/>
            </a:pPr>
            <a:r>
              <a:rPr lang="en-US" sz="1700" b="0">
                <a:solidFill>
                  <a:srgbClr val="EEF7FF"/>
                </a:solidFill>
              </a:rPr>
              <a:t>No manual spreadsheet stitching after inputs are 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 10"/>
          <p:cNvSpPr txBox="1"/>
          <p:nvPr/>
        </p:nvSpPr>
        <p:spPr>
          <a:xfrm>
            <a:off x="502920" y="320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43F6C8"/>
                </a:solidFill>
              </a:rPr>
              <a:t>Future Improvements</a:t>
            </a:r>
          </a:p>
        </p:txBody>
      </p:sp>
      <p:sp>
        <p:nvSpPr>
          <p:cNvPr id="150" name="Bullets 150"/>
          <p:cNvSpPr txBox="1"/>
          <p:nvPr/>
        </p:nvSpPr>
        <p:spPr>
          <a:xfrm>
            <a:off x="777240" y="1143000"/>
            <a:ext cx="10607040" cy="4389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800" b="0">
                <a:solidFill>
                  <a:srgbClr val="EEF7FF"/>
                </a:solidFill>
              </a:rPr>
              <a:t>Add semantic matching using embeddings for stronger item-to-feature linkage.</a:t>
            </a:r>
          </a:p>
          <a:p>
            <a:pPr marL="285750" indent="-171450">
              <a:buChar char="•"/>
            </a:pPr>
            <a:r>
              <a:rPr lang="en-US" sz="1800" b="0">
                <a:solidFill>
                  <a:srgbClr val="EEF7FF"/>
                </a:solidFill>
              </a:rPr>
              <a:t>Capture release-note parser confidence and flag ambiguous sections for review.</a:t>
            </a:r>
          </a:p>
          <a:p>
            <a:pPr marL="285750" indent="-171450">
              <a:buChar char="•"/>
            </a:pPr>
            <a:r>
              <a:rPr lang="en-US" sz="1800" b="0">
                <a:solidFill>
                  <a:srgbClr val="EEF7FF"/>
                </a:solidFill>
              </a:rPr>
              <a:t>Persist trend history across runs to show coverage movement over time.</a:t>
            </a:r>
          </a:p>
          <a:p>
            <a:pPr marL="285750" indent="-171450">
              <a:buChar char="•"/>
            </a:pPr>
            <a:r>
              <a:rPr lang="en-US" sz="1800" b="0">
                <a:solidFill>
                  <a:srgbClr val="EEF7FF"/>
                </a:solidFill>
              </a:rPr>
              <a:t>Add owner/team-level accountability and aging of unresolved gaps.</a:t>
            </a:r>
          </a:p>
          <a:p>
            <a:pPr marL="285750" indent="-171450">
              <a:buChar char="•"/>
            </a:pPr>
            <a:r>
              <a:rPr lang="en-US" sz="1800" b="0">
                <a:solidFill>
                  <a:srgbClr val="EEF7FF"/>
                </a:solidFill>
              </a:rPr>
              <a:t>Integrate CI or scheduled generation so dashboards stay current automatically.</a:t>
            </a:r>
          </a:p>
          <a:p>
            <a:pPr marL="285750" indent="-171450">
              <a:buChar char="•"/>
            </a:pPr>
            <a:r>
              <a:rPr lang="en-US" sz="1800" b="0">
                <a:solidFill>
                  <a:srgbClr val="EEF7FF"/>
                </a:solidFill>
              </a:rPr>
              <a:t>Add richer chart interactions, filters, and exportable presentation snapshots.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ext 10"/>
          <p:cNvSpPr txBox="1"/>
          <p:nvPr/>
        </p:nvSpPr>
        <p:spPr>
          <a:xfrm>
            <a:off x="502920" y="320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2800" b="1">
                <a:solidFill>
                  <a:srgbClr val="43F6C8"/>
                </a:solidFill>
              </a:rPr>
              <a:t>Demo Slide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8640" y="7772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200" b="0">
                <a:solidFill>
                  <a:srgbClr val="9DB1C8"/>
                </a:solidFill>
              </a:rPr>
              <a:t>Suggested walkthrough path</a:t>
            </a:r>
          </a:p>
        </p:txBody>
      </p:sp>
      <p:sp>
        <p:nvSpPr>
          <p:cNvPr id="160" name="Bullets 160"/>
          <p:cNvSpPr txBox="1"/>
          <p:nvPr/>
        </p:nvSpPr>
        <p:spPr>
          <a:xfrm>
            <a:off x="777240" y="1234440"/>
            <a:ext cx="10424160" cy="3108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900" b="0">
                <a:solidFill>
                  <a:srgbClr val="EEF7FF"/>
                </a:solidFill>
              </a:rPr>
              <a:t>Open output/ORBYT_Test_Matrix_Dashboard.html</a:t>
            </a:r>
          </a:p>
          <a:p>
            <a:pPr marL="285750" indent="-171450">
              <a:buChar char="•"/>
            </a:pPr>
            <a:r>
              <a:rPr lang="en-US" sz="1900" b="0">
                <a:solidFill>
                  <a:srgbClr val="EEF7FF"/>
                </a:solidFill>
              </a:rPr>
              <a:t>Review KPI cards, charts, sitemap coverage, and last 10 releases</a:t>
            </a:r>
          </a:p>
          <a:p>
            <a:pPr marL="285750" indent="-171450">
              <a:buChar char="•"/>
            </a:pPr>
            <a:r>
              <a:rPr lang="en-US" sz="1900" b="0">
                <a:solidFill>
                  <a:srgbClr val="EEF7FF"/>
                </a:solidFill>
              </a:rPr>
              <a:t>Click Item Traceability or Strategy Traceability for curated table pages</a:t>
            </a:r>
          </a:p>
          <a:p>
            <a:pPr marL="285750" indent="-171450">
              <a:buChar char="•"/>
            </a:pPr>
            <a:r>
              <a:rPr lang="en-US" sz="1900" b="0">
                <a:solidFill>
                  <a:srgbClr val="EEF7FF"/>
                </a:solidFill>
              </a:rPr>
              <a:t>Use Download Excel / Download CSV from any detail page</a:t>
            </a:r>
          </a:p>
          <a:p>
            <a:pPr marL="285750" indent="-171450">
              <a:buChar char="•"/>
            </a:pPr>
            <a:r>
              <a:rPr lang="en-US" sz="1900" b="0">
                <a:solidFill>
                  <a:srgbClr val="EEF7FF"/>
                </a:solidFill>
              </a:rPr>
              <a:t>Open output/ORBYT_Complete_Matrices.xlsx for the combined workbook</a:t>
            </a:r>
          </a:p>
        </p:txBody>
      </p:sp>
      <p:sp>
        <p:nvSpPr>
          <p:cNvPr id="161" name="Panel 161"/>
          <p:cNvSpPr/>
          <p:nvPr/>
        </p:nvSpPr>
        <p:spPr>
          <a:xfrm>
            <a:off x="822960" y="4709160"/>
            <a:ext cx="10332720" cy="777240"/>
          </a:xfrm>
          <a:prstGeom prst="roundRect">
            <a:avLst/>
          </a:prstGeom>
          <a:solidFill>
            <a:srgbClr val="091222">
              <a:alpha val="88000"/>
            </a:srgbClr>
          </a:solidFill>
          <a:ln w="12700">
            <a:solidFill>
              <a:srgbClr val="FFC857">
                <a:alpha val="50000"/>
              </a:srgbClr>
            </a:solidFill>
          </a:ln>
        </p:spPr>
      </p:sp>
      <p:sp>
        <p:nvSpPr>
          <p:cNvPr id="162" name="Text 162"/>
          <p:cNvSpPr txBox="1"/>
          <p:nvPr/>
        </p:nvSpPr>
        <p:spPr>
          <a:xfrm>
            <a:off x="1051560" y="491032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400" b="1">
                <a:solidFill>
                  <a:srgbClr val="EEF7FF"/>
                </a:solidFill>
              </a:rPr>
              <a:t>Latest release examples: 21-May26 (Good, GO); 20-May26 (Good, GO); 15-May26 (Good, CONDITIONAL)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BYT">
  <a:themeElements>
    <a:clrScheme name="ORBYT">
      <a:dk1>
        <a:srgbClr val="050914"/>
      </a:dk1>
      <a:lt1>
        <a:srgbClr val="EEF7FF"/>
      </a:lt1>
      <a:dk2>
        <a:srgbClr val="0B1728"/>
      </a:dk2>
      <a:lt2>
        <a:srgbClr val="9DB1C8"/>
      </a:lt2>
      <a:accent1>
        <a:srgbClr val="43F6C8"/>
      </a:accent1>
      <a:accent2>
        <a:srgbClr val="7AA7FF"/>
      </a:accent2>
      <a:accent3>
        <a:srgbClr val="FF4FD8"/>
      </a:accent3>
      <a:accent4>
        <a:srgbClr val="FFC857"/>
      </a:accent4>
      <a:accent5>
        <a:srgbClr val="FF5C7A"/>
      </a:accent5>
      <a:accent6>
        <a:srgbClr val="8AD7FF"/>
      </a:accent6>
      <a:hlink>
        <a:srgbClr val="7AA7FF"/>
      </a:hlink>
      <a:folHlink>
        <a:srgbClr val="FF4FD8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ORBYT Matrix Generator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ORBYT Test Matrix Dashboard Overview</dc:title>
  <dc:creator>ORBYT Matrix Generator</dc:creator>
  <cp:lastModifiedBy>ORBYT Matrix Generator</cp:lastModifiedBy>
  <dcterms:created xsi:type="dcterms:W3CDTF">2026-05-22T10:47:31Z</dcterms:created>
  <dcterms:modified xsi:type="dcterms:W3CDTF">2026-05-22T10:47:31Z</dcterms:modified>
</cp:coreProperties>
</file>